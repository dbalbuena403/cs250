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1" y="0"/>
            <a:ext cx="12191697" cy="6858000"/>
          </a:xfrm>
          <a:prstGeom prst="rect">
            <a:avLst/>
          </a:prstGeom>
          <a:solidFill>
            <a:srgbClr val="182D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5" name="Rectangle 2"/>
          <p:cNvSpPr/>
          <p:nvPr/>
        </p:nvSpPr>
        <p:spPr>
          <a:xfrm>
            <a:off x="-1" y="5394959"/>
            <a:ext cx="12191697" cy="1463041"/>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96" name="TextBox 3"/>
          <p:cNvSpPr txBox="1"/>
          <p:nvPr/>
        </p:nvSpPr>
        <p:spPr>
          <a:xfrm>
            <a:off x="868679" y="1097280"/>
            <a:ext cx="10241282" cy="637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3600">
                <a:solidFill>
                  <a:srgbClr val="FFFFFF"/>
                </a:solidFill>
                <a:latin typeface="Aptos"/>
                <a:ea typeface="Aptos"/>
                <a:cs typeface="Aptos"/>
                <a:sym typeface="Aptos"/>
              </a:defRPr>
            </a:lvl1pPr>
          </a:lstStyle>
          <a:p>
            <a:pPr/>
            <a:r>
              <a:t>From Waterfall to Agile</a:t>
            </a:r>
          </a:p>
        </p:txBody>
      </p:sp>
      <p:sp>
        <p:nvSpPr>
          <p:cNvPr id="97" name="TextBox 4"/>
          <p:cNvSpPr txBox="1"/>
          <p:nvPr/>
        </p:nvSpPr>
        <p:spPr>
          <a:xfrm>
            <a:off x="914400" y="2423160"/>
            <a:ext cx="9875520"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2400">
                <a:solidFill>
                  <a:srgbClr val="FFFFFF"/>
                </a:solidFill>
                <a:latin typeface="Aptos"/>
                <a:ea typeface="Aptos"/>
                <a:cs typeface="Aptos"/>
                <a:sym typeface="Aptos"/>
              </a:defRPr>
            </a:lvl1pPr>
          </a:lstStyle>
          <a:p>
            <a:pPr/>
            <a:r>
              <a:t>Lessons from the SNHU Travel Development Project</a:t>
            </a:r>
          </a:p>
        </p:txBody>
      </p:sp>
      <p:sp>
        <p:nvSpPr>
          <p:cNvPr id="98" name="TextBox 5"/>
          <p:cNvSpPr txBox="1"/>
          <p:nvPr/>
        </p:nvSpPr>
        <p:spPr>
          <a:xfrm>
            <a:off x="914399" y="3840479"/>
            <a:ext cx="9692642"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700">
                <a:solidFill>
                  <a:srgbClr val="DCE6EE"/>
                </a:solidFill>
                <a:latin typeface="Aptos"/>
                <a:ea typeface="Aptos"/>
                <a:cs typeface="Aptos"/>
                <a:sym typeface="Aptos"/>
              </a:defRPr>
            </a:lvl1pPr>
          </a:lstStyle>
          <a:p>
            <a:pPr/>
            <a:r>
              <a:t>A Scrum-Agile pilot recommendation for Chada Tech leadership</a:t>
            </a:r>
          </a:p>
        </p:txBody>
      </p:sp>
      <p:sp>
        <p:nvSpPr>
          <p:cNvPr id="99" name="TextBox 6"/>
          <p:cNvSpPr txBox="1"/>
          <p:nvPr/>
        </p:nvSpPr>
        <p:spPr>
          <a:xfrm>
            <a:off x="914400" y="5806440"/>
            <a:ext cx="9966961" cy="32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500">
                <a:solidFill>
                  <a:srgbClr val="FFFFFF"/>
                </a:solidFill>
                <a:latin typeface="Aptos"/>
                <a:ea typeface="Aptos"/>
                <a:cs typeface="Aptos"/>
                <a:sym typeface="Aptos"/>
              </a:defRPr>
            </a:lvl1pPr>
          </a:lstStyle>
          <a:p>
            <a:pPr/>
            <a:r>
              <a:t>CS 250 • Daniel Balbuena • October 13,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2"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1. Scrum-Agile at a glance</a:t>
            </a:r>
          </a:p>
        </p:txBody>
      </p:sp>
      <p:sp>
        <p:nvSpPr>
          <p:cNvPr id="103"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4"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A framework for learning through short, inspectable increments</a:t>
            </a:r>
          </a:p>
        </p:txBody>
      </p:sp>
      <p:sp>
        <p:nvSpPr>
          <p:cNvPr id="105" name="TextBox 5"/>
          <p:cNvSpPr txBox="1"/>
          <p:nvPr/>
        </p:nvSpPr>
        <p:spPr>
          <a:xfrm>
            <a:off x="822960" y="1737360"/>
            <a:ext cx="6309361" cy="3253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a:latin typeface="Times Roman"/>
                <a:ea typeface="Times Roman"/>
                <a:cs typeface="Times Roman"/>
                <a:sym typeface="Times Roman"/>
              </a:defRPr>
            </a:pPr>
            <a:r>
              <a:t>Work is organized around a Product Goal and a prioritized Product Backlog.</a:t>
            </a:r>
          </a:p>
          <a:p>
            <a:pPr>
              <a:spcBef>
                <a:spcPts val="1200"/>
              </a:spcBef>
              <a:defRPr>
                <a:latin typeface="Times Roman"/>
                <a:ea typeface="Times Roman"/>
                <a:cs typeface="Times Roman"/>
                <a:sym typeface="Times Roman"/>
              </a:defRPr>
            </a:pPr>
            <a:r>
              <a:t>A Sprint creates a usable increment toward a clear Sprint Goal.</a:t>
            </a:r>
          </a:p>
          <a:p>
            <a:pPr>
              <a:spcBef>
                <a:spcPts val="1200"/>
              </a:spcBef>
              <a:defRPr>
                <a:latin typeface="Times Roman"/>
                <a:ea typeface="Times Roman"/>
                <a:cs typeface="Times Roman"/>
                <a:sym typeface="Times Roman"/>
              </a:defRPr>
            </a:pPr>
            <a:r>
              <a:t>Frequent inspection and adaptation help teams respond to feedback and defects.</a:t>
            </a:r>
          </a:p>
          <a:p>
            <a:pPr>
              <a:spcBef>
                <a:spcPts val="1200"/>
              </a:spcBef>
              <a:defRPr>
                <a:latin typeface="Times Roman"/>
                <a:ea typeface="Times Roman"/>
                <a:cs typeface="Times Roman"/>
                <a:sym typeface="Times Roman"/>
              </a:defRPr>
            </a:pPr>
            <a:r>
              <a:t>Scrum is a framework, Agile is a broader set of values and principles.</a:t>
            </a:r>
          </a:p>
          <a:p>
            <a:pPr>
              <a:spcBef>
                <a:spcPts val="1200"/>
              </a:spcBef>
              <a:defRPr sz="1200">
                <a:latin typeface="Times Roman"/>
                <a:ea typeface="Times Roman"/>
                <a:cs typeface="Times Roman"/>
                <a:sym typeface="Times Roman"/>
              </a:defRPr>
            </a:pPr>
          </a:p>
        </p:txBody>
      </p:sp>
      <p:sp>
        <p:nvSpPr>
          <p:cNvPr id="106" name="Rounded Rectangle 6"/>
          <p:cNvSpPr/>
          <p:nvPr/>
        </p:nvSpPr>
        <p:spPr>
          <a:xfrm>
            <a:off x="7772400" y="1828800"/>
            <a:ext cx="3474721" cy="3200400"/>
          </a:xfrm>
          <a:prstGeom prst="roundRect">
            <a:avLst>
              <a:gd name="adj" fmla="val 16667"/>
            </a:avLst>
          </a:prstGeom>
          <a:solidFill>
            <a:srgbClr val="F2F6F9"/>
          </a:solidFill>
          <a:ln>
            <a:solidFill>
              <a:srgbClr val="F2F6F9"/>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07" name="TextBox 7"/>
          <p:cNvSpPr txBox="1"/>
          <p:nvPr/>
        </p:nvSpPr>
        <p:spPr>
          <a:xfrm>
            <a:off x="8138160" y="2194560"/>
            <a:ext cx="278892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a:solidFill>
                  <a:srgbClr val="00828C"/>
                </a:solidFill>
                <a:latin typeface="Aptos"/>
                <a:ea typeface="Aptos"/>
                <a:cs typeface="Aptos"/>
                <a:sym typeface="Aptos"/>
              </a:defRPr>
            </a:lvl1pPr>
          </a:lstStyle>
          <a:p>
            <a:pPr/>
            <a:r>
              <a:t>SNHU Travel example</a:t>
            </a:r>
          </a:p>
        </p:txBody>
      </p:sp>
      <p:sp>
        <p:nvSpPr>
          <p:cNvPr id="108" name="TextBox 8"/>
          <p:cNvSpPr txBox="1"/>
          <p:nvPr/>
        </p:nvSpPr>
        <p:spPr>
          <a:xfrm>
            <a:off x="8138160" y="2788920"/>
            <a:ext cx="2743201" cy="2174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600">
                <a:latin typeface="Times Roman"/>
                <a:ea typeface="Times Roman"/>
                <a:cs typeface="Times Roman"/>
                <a:sym typeface="Times Roman"/>
              </a:defRPr>
            </a:lvl1pPr>
          </a:lstStyle>
          <a:p>
            <a:pPr/>
            <a:r>
              <a:t>Generate a top-five destination list with the ordered destinations, a brief description of each, and associated images. Next, review and make necessary adjustments to the functioning user interface.</a:t>
            </a:r>
          </a:p>
        </p:txBody>
      </p:sp>
      <p:sp>
        <p:nvSpPr>
          <p:cNvPr id="109" name="TextBox 9"/>
          <p:cNvSpPr txBox="1"/>
          <p:nvPr/>
        </p:nvSpPr>
        <p:spPr>
          <a:xfrm>
            <a:off x="822959" y="5897879"/>
            <a:ext cx="10607042"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100">
                <a:solidFill>
                  <a:srgbClr val="5F6C78"/>
                </a:solidFill>
                <a:latin typeface="Aptos"/>
                <a:ea typeface="Aptos"/>
                <a:cs typeface="Aptos"/>
                <a:sym typeface="Aptos"/>
              </a:defRPr>
            </a:lvl1pPr>
          </a:lstStyle>
          <a:p>
            <a:pPr/>
            <a:r>
              <a:t>Sources: Schwaber &amp; Sutherland (2020); Jackson et al. (2025).</a:t>
            </a:r>
          </a:p>
        </p:txBody>
      </p:sp>
      <p:sp>
        <p:nvSpPr>
          <p:cNvPr id="110" name="TextBox 10"/>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111" name="TextBox 11"/>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4"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2. Scrum roles and their importance</a:t>
            </a:r>
          </a:p>
        </p:txBody>
      </p:sp>
      <p:sp>
        <p:nvSpPr>
          <p:cNvPr id="115"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6"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Three accountabilities work together toward one product goal</a:t>
            </a:r>
          </a:p>
        </p:txBody>
      </p:sp>
      <p:sp>
        <p:nvSpPr>
          <p:cNvPr id="117" name="Rounded Rectangle 5"/>
          <p:cNvSpPr/>
          <p:nvPr/>
        </p:nvSpPr>
        <p:spPr>
          <a:xfrm>
            <a:off x="731519" y="1828800"/>
            <a:ext cx="3246122" cy="3566160"/>
          </a:xfrm>
          <a:prstGeom prst="roundRect">
            <a:avLst>
              <a:gd name="adj" fmla="val 16667"/>
            </a:avLst>
          </a:prstGeom>
          <a:solidFill>
            <a:srgbClr val="F2F6F9"/>
          </a:solidFill>
          <a:ln>
            <a:solidFill>
              <a:srgbClr val="00828C"/>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18" name="TextBox 6"/>
          <p:cNvSpPr txBox="1"/>
          <p:nvPr/>
        </p:nvSpPr>
        <p:spPr>
          <a:xfrm>
            <a:off x="978408" y="2057399"/>
            <a:ext cx="274320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00828C"/>
                </a:solidFill>
                <a:latin typeface="Aptos"/>
                <a:ea typeface="Aptos"/>
                <a:cs typeface="Aptos"/>
                <a:sym typeface="Aptos"/>
              </a:defRPr>
            </a:lvl1pPr>
          </a:lstStyle>
          <a:p>
            <a:pPr/>
            <a:r>
              <a:t>PRODUCT OWNER</a:t>
            </a:r>
          </a:p>
        </p:txBody>
      </p:sp>
      <p:sp>
        <p:nvSpPr>
          <p:cNvPr id="119" name="TextBox 7"/>
          <p:cNvSpPr txBox="1"/>
          <p:nvPr/>
        </p:nvSpPr>
        <p:spPr>
          <a:xfrm>
            <a:off x="978408" y="2606039"/>
            <a:ext cx="2743201" cy="2606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sz="1400">
                <a:latin typeface="Times Roman"/>
                <a:ea typeface="Times Roman"/>
                <a:cs typeface="Times Roman"/>
                <a:sym typeface="Times Roman"/>
              </a:defRPr>
            </a:pPr>
            <a:r>
              <a:t>Enhances the worth of a product, identifies customers' requirements, and establishes a hierarchy within the product backlog.</a:t>
            </a:r>
          </a:p>
          <a:p>
            <a:pPr>
              <a:spcBef>
                <a:spcPts val="1200"/>
              </a:spcBef>
              <a:defRPr sz="1400">
                <a:latin typeface="Times Roman"/>
                <a:ea typeface="Times Roman"/>
                <a:cs typeface="Times Roman"/>
                <a:sym typeface="Times Roman"/>
              </a:defRPr>
            </a:pPr>
          </a:p>
          <a:p>
            <a:pPr>
              <a:spcBef>
                <a:spcPts val="1200"/>
              </a:spcBef>
              <a:defRPr sz="1400">
                <a:latin typeface="Times Roman"/>
                <a:ea typeface="Times Roman"/>
                <a:cs typeface="Times Roman"/>
                <a:sym typeface="Times Roman"/>
              </a:defRPr>
            </a:pPr>
            <a:r>
              <a:t>Project example: define the destination-list story and acceptance criteria.</a:t>
            </a:r>
          </a:p>
        </p:txBody>
      </p:sp>
      <p:sp>
        <p:nvSpPr>
          <p:cNvPr id="120" name="Rounded Rectangle 8"/>
          <p:cNvSpPr/>
          <p:nvPr/>
        </p:nvSpPr>
        <p:spPr>
          <a:xfrm>
            <a:off x="4434840" y="1828800"/>
            <a:ext cx="3246121" cy="3566160"/>
          </a:xfrm>
          <a:prstGeom prst="roundRect">
            <a:avLst>
              <a:gd name="adj" fmla="val 16667"/>
            </a:avLst>
          </a:prstGeom>
          <a:solidFill>
            <a:srgbClr val="F2F6F9"/>
          </a:solidFill>
          <a:ln>
            <a:solidFill>
              <a:srgbClr val="E8AA4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1" name="TextBox 9"/>
          <p:cNvSpPr txBox="1"/>
          <p:nvPr/>
        </p:nvSpPr>
        <p:spPr>
          <a:xfrm>
            <a:off x="4681726" y="2057399"/>
            <a:ext cx="274320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E8AA41"/>
                </a:solidFill>
                <a:latin typeface="Aptos"/>
                <a:ea typeface="Aptos"/>
                <a:cs typeface="Aptos"/>
                <a:sym typeface="Aptos"/>
              </a:defRPr>
            </a:lvl1pPr>
          </a:lstStyle>
          <a:p>
            <a:pPr/>
            <a:r>
              <a:t>SCRUM MASTER</a:t>
            </a:r>
          </a:p>
        </p:txBody>
      </p:sp>
      <p:sp>
        <p:nvSpPr>
          <p:cNvPr id="122" name="TextBox 10"/>
          <p:cNvSpPr txBox="1"/>
          <p:nvPr/>
        </p:nvSpPr>
        <p:spPr>
          <a:xfrm>
            <a:off x="4681726" y="2606039"/>
            <a:ext cx="2743201" cy="2606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sz="1500">
                <a:latin typeface="Times Roman"/>
                <a:ea typeface="Times Roman"/>
                <a:cs typeface="Times Roman"/>
                <a:sym typeface="Times Roman"/>
              </a:defRPr>
            </a:pPr>
            <a:r>
              <a:t>The team learns how to utilize scrum efficiently, with help on events, transparency and the removal of obstacles.</a:t>
            </a:r>
          </a:p>
          <a:p>
            <a:pPr>
              <a:spcBef>
                <a:spcPts val="1200"/>
              </a:spcBef>
              <a:defRPr sz="1500">
                <a:latin typeface="Times Roman"/>
                <a:ea typeface="Times Roman"/>
                <a:cs typeface="Times Roman"/>
                <a:sym typeface="Times Roman"/>
              </a:defRPr>
            </a:pPr>
          </a:p>
          <a:p>
            <a:pPr>
              <a:spcBef>
                <a:spcPts val="1200"/>
              </a:spcBef>
              <a:defRPr sz="1500">
                <a:latin typeface="Times Roman"/>
                <a:ea typeface="Times Roman"/>
                <a:cs typeface="Times Roman"/>
                <a:sym typeface="Times Roman"/>
              </a:defRPr>
            </a:pPr>
            <a:r>
              <a:t>Project example: make image-order and compilation issues visible for resolution.</a:t>
            </a:r>
          </a:p>
        </p:txBody>
      </p:sp>
      <p:sp>
        <p:nvSpPr>
          <p:cNvPr id="123" name="Rounded Rectangle 11"/>
          <p:cNvSpPr/>
          <p:nvPr/>
        </p:nvSpPr>
        <p:spPr>
          <a:xfrm>
            <a:off x="8138159" y="1828800"/>
            <a:ext cx="3246121" cy="3566160"/>
          </a:xfrm>
          <a:prstGeom prst="roundRect">
            <a:avLst>
              <a:gd name="adj" fmla="val 16667"/>
            </a:avLst>
          </a:prstGeom>
          <a:solidFill>
            <a:srgbClr val="F2F6F9"/>
          </a:solidFill>
          <a:ln>
            <a:solidFill>
              <a:srgbClr val="182D4A"/>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24" name="TextBox 12"/>
          <p:cNvSpPr txBox="1"/>
          <p:nvPr/>
        </p:nvSpPr>
        <p:spPr>
          <a:xfrm>
            <a:off x="8385048" y="2057399"/>
            <a:ext cx="2743201"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DEVELOPERS</a:t>
            </a:r>
          </a:p>
        </p:txBody>
      </p:sp>
      <p:sp>
        <p:nvSpPr>
          <p:cNvPr id="125" name="TextBox 13"/>
          <p:cNvSpPr txBox="1"/>
          <p:nvPr/>
        </p:nvSpPr>
        <p:spPr>
          <a:xfrm>
            <a:off x="8385048" y="2606039"/>
            <a:ext cx="2743201" cy="306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sz="1400">
                <a:latin typeface="Times Roman"/>
                <a:ea typeface="Times Roman"/>
                <a:cs typeface="Times Roman"/>
                <a:sym typeface="Times Roman"/>
              </a:defRPr>
            </a:pPr>
            <a:r>
              <a:t>Develop a workable improvement and maintain quality; collaborate with others to develop and adapt the plan.</a:t>
            </a:r>
          </a:p>
          <a:p>
            <a:pPr>
              <a:spcBef>
                <a:spcPts val="1200"/>
              </a:spcBef>
              <a:defRPr sz="1400">
                <a:latin typeface="Times Roman"/>
                <a:ea typeface="Times Roman"/>
                <a:cs typeface="Times Roman"/>
                <a:sym typeface="Times Roman"/>
              </a:defRPr>
            </a:pPr>
          </a:p>
          <a:p>
            <a:pPr>
              <a:spcBef>
                <a:spcPts val="1200"/>
              </a:spcBef>
              <a:defRPr sz="1400">
                <a:latin typeface="Times Roman"/>
                <a:ea typeface="Times Roman"/>
                <a:cs typeface="Times Roman"/>
                <a:sym typeface="Times Roman"/>
              </a:defRPr>
            </a:pPr>
            <a:r>
              <a:t>In this project example, I will be implementing the Java interface and then connecting images to it. Finally, I will verify the results of the project.</a:t>
            </a:r>
          </a:p>
        </p:txBody>
      </p:sp>
      <p:sp>
        <p:nvSpPr>
          <p:cNvPr id="126" name="TextBox 14"/>
          <p:cNvSpPr txBox="1"/>
          <p:nvPr/>
        </p:nvSpPr>
        <p:spPr>
          <a:xfrm>
            <a:off x="822959" y="5806440"/>
            <a:ext cx="10698482"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100">
                <a:solidFill>
                  <a:srgbClr val="5F6C78"/>
                </a:solidFill>
                <a:latin typeface="Aptos"/>
                <a:ea typeface="Aptos"/>
                <a:cs typeface="Aptos"/>
                <a:sym typeface="Aptos"/>
              </a:defRPr>
            </a:lvl1pPr>
          </a:lstStyle>
          <a:p>
            <a:pPr/>
            <a:r>
              <a:t>Scrum accountabilities are shared within a cohesive team, not isolated departmental silos (Schwaber &amp; Sutherland, 2020).</a:t>
            </a:r>
          </a:p>
        </p:txBody>
      </p:sp>
      <p:sp>
        <p:nvSpPr>
          <p:cNvPr id="127" name="TextBox 15"/>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128" name="TextBox 16"/>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1"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3. The SDLC in an Agile environment</a:t>
            </a:r>
          </a:p>
        </p:txBody>
      </p:sp>
      <p:sp>
        <p:nvSpPr>
          <p:cNvPr id="132"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3"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The phases repeat and overlap across increments—not just once</a:t>
            </a:r>
          </a:p>
        </p:txBody>
      </p:sp>
      <p:sp>
        <p:nvSpPr>
          <p:cNvPr id="134" name="Rounded Rectangle 5"/>
          <p:cNvSpPr/>
          <p:nvPr/>
        </p:nvSpPr>
        <p:spPr>
          <a:xfrm>
            <a:off x="594359" y="2057400"/>
            <a:ext cx="2057401" cy="2286000"/>
          </a:xfrm>
          <a:prstGeom prst="roundRect">
            <a:avLst>
              <a:gd name="adj" fmla="val 16667"/>
            </a:avLst>
          </a:prstGeom>
          <a:solidFill>
            <a:srgbClr val="F2F6F9"/>
          </a:solidFill>
          <a:ln>
            <a:solidFill>
              <a:srgbClr val="00828C"/>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5" name="TextBox 6"/>
          <p:cNvSpPr txBox="1"/>
          <p:nvPr/>
        </p:nvSpPr>
        <p:spPr>
          <a:xfrm>
            <a:off x="768096" y="2331720"/>
            <a:ext cx="1691639"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Plan &amp; analyze</a:t>
            </a:r>
          </a:p>
        </p:txBody>
      </p:sp>
      <p:sp>
        <p:nvSpPr>
          <p:cNvPr id="136" name="TextBox 7"/>
          <p:cNvSpPr txBox="1"/>
          <p:nvPr/>
        </p:nvSpPr>
        <p:spPr>
          <a:xfrm>
            <a:off x="768096" y="2926079"/>
            <a:ext cx="1691639" cy="92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400">
                <a:latin typeface="Times Roman"/>
                <a:ea typeface="Times Roman"/>
                <a:cs typeface="Times Roman"/>
                <a:sym typeface="Times Roman"/>
              </a:defRPr>
            </a:lvl1pPr>
          </a:lstStyle>
          <a:p>
            <a:pPr/>
            <a:r>
              <a:t>Identify users, value, and story criteria.</a:t>
            </a:r>
          </a:p>
        </p:txBody>
      </p:sp>
      <p:sp>
        <p:nvSpPr>
          <p:cNvPr id="137" name="TextBox 8"/>
          <p:cNvSpPr txBox="1"/>
          <p:nvPr/>
        </p:nvSpPr>
        <p:spPr>
          <a:xfrm>
            <a:off x="2706623" y="2880360"/>
            <a:ext cx="1371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000">
                <a:solidFill>
                  <a:srgbClr val="00828C"/>
                </a:solidFill>
                <a:latin typeface="Aptos"/>
                <a:ea typeface="Aptos"/>
                <a:cs typeface="Aptos"/>
                <a:sym typeface="Aptos"/>
              </a:defRPr>
            </a:lvl1pPr>
          </a:lstStyle>
          <a:p>
            <a:pPr/>
            <a:r>
              <a:t>→</a:t>
            </a:r>
          </a:p>
        </p:txBody>
      </p:sp>
      <p:sp>
        <p:nvSpPr>
          <p:cNvPr id="138" name="Rounded Rectangle 9"/>
          <p:cNvSpPr/>
          <p:nvPr/>
        </p:nvSpPr>
        <p:spPr>
          <a:xfrm>
            <a:off x="2926078" y="2057400"/>
            <a:ext cx="2057401" cy="2286000"/>
          </a:xfrm>
          <a:prstGeom prst="roundRect">
            <a:avLst>
              <a:gd name="adj" fmla="val 16667"/>
            </a:avLst>
          </a:prstGeom>
          <a:solidFill>
            <a:srgbClr val="F2F6F9"/>
          </a:solidFill>
          <a:ln>
            <a:solidFill>
              <a:srgbClr val="E8AA4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39" name="TextBox 10"/>
          <p:cNvSpPr txBox="1"/>
          <p:nvPr/>
        </p:nvSpPr>
        <p:spPr>
          <a:xfrm>
            <a:off x="3099815" y="2331720"/>
            <a:ext cx="169164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Design</a:t>
            </a:r>
          </a:p>
        </p:txBody>
      </p:sp>
      <p:sp>
        <p:nvSpPr>
          <p:cNvPr id="140" name="TextBox 11"/>
          <p:cNvSpPr txBox="1"/>
          <p:nvPr/>
        </p:nvSpPr>
        <p:spPr>
          <a:xfrm>
            <a:off x="3099815" y="2926079"/>
            <a:ext cx="1691640" cy="1158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500">
                <a:latin typeface="Times Roman"/>
                <a:ea typeface="Times Roman"/>
                <a:cs typeface="Times Roman"/>
                <a:sym typeface="Times Roman"/>
              </a:defRPr>
            </a:lvl1pPr>
          </a:lstStyle>
          <a:p>
            <a:pPr/>
            <a:r>
              <a:t>Choose the interface and resource structure</a:t>
            </a:r>
          </a:p>
        </p:txBody>
      </p:sp>
      <p:sp>
        <p:nvSpPr>
          <p:cNvPr id="141" name="TextBox 12"/>
          <p:cNvSpPr txBox="1"/>
          <p:nvPr/>
        </p:nvSpPr>
        <p:spPr>
          <a:xfrm>
            <a:off x="5038343" y="2880360"/>
            <a:ext cx="1371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000">
                <a:solidFill>
                  <a:srgbClr val="00828C"/>
                </a:solidFill>
                <a:latin typeface="Aptos"/>
                <a:ea typeface="Aptos"/>
                <a:cs typeface="Aptos"/>
                <a:sym typeface="Aptos"/>
              </a:defRPr>
            </a:lvl1pPr>
          </a:lstStyle>
          <a:p>
            <a:pPr/>
            <a:r>
              <a:t>→</a:t>
            </a:r>
          </a:p>
        </p:txBody>
      </p:sp>
      <p:sp>
        <p:nvSpPr>
          <p:cNvPr id="142" name="Rounded Rectangle 13"/>
          <p:cNvSpPr/>
          <p:nvPr/>
        </p:nvSpPr>
        <p:spPr>
          <a:xfrm>
            <a:off x="5257800" y="2057400"/>
            <a:ext cx="2057400" cy="2286000"/>
          </a:xfrm>
          <a:prstGeom prst="roundRect">
            <a:avLst>
              <a:gd name="adj" fmla="val 16667"/>
            </a:avLst>
          </a:prstGeom>
          <a:solidFill>
            <a:srgbClr val="F2F6F9"/>
          </a:solidFill>
          <a:ln>
            <a:solidFill>
              <a:srgbClr val="00828C"/>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3" name="TextBox 14"/>
          <p:cNvSpPr txBox="1"/>
          <p:nvPr/>
        </p:nvSpPr>
        <p:spPr>
          <a:xfrm>
            <a:off x="5431535" y="2331720"/>
            <a:ext cx="169164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Build</a:t>
            </a:r>
          </a:p>
        </p:txBody>
      </p:sp>
      <p:sp>
        <p:nvSpPr>
          <p:cNvPr id="144" name="TextBox 15"/>
          <p:cNvSpPr txBox="1"/>
          <p:nvPr/>
        </p:nvSpPr>
        <p:spPr>
          <a:xfrm>
            <a:off x="5431535" y="2926079"/>
            <a:ext cx="1691640" cy="92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500">
                <a:latin typeface="Times Roman"/>
                <a:ea typeface="Times Roman"/>
                <a:cs typeface="Times Roman"/>
                <a:sym typeface="Times Roman"/>
              </a:defRPr>
            </a:lvl1pPr>
          </a:lstStyle>
          <a:p>
            <a:pPr/>
            <a:r>
              <a:t>Implement a small working feature.</a:t>
            </a:r>
          </a:p>
        </p:txBody>
      </p:sp>
      <p:sp>
        <p:nvSpPr>
          <p:cNvPr id="145" name="TextBox 16"/>
          <p:cNvSpPr txBox="1"/>
          <p:nvPr/>
        </p:nvSpPr>
        <p:spPr>
          <a:xfrm>
            <a:off x="7370063" y="2880360"/>
            <a:ext cx="1371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000">
                <a:solidFill>
                  <a:srgbClr val="00828C"/>
                </a:solidFill>
                <a:latin typeface="Aptos"/>
                <a:ea typeface="Aptos"/>
                <a:cs typeface="Aptos"/>
                <a:sym typeface="Aptos"/>
              </a:defRPr>
            </a:lvl1pPr>
          </a:lstStyle>
          <a:p>
            <a:pPr/>
            <a:r>
              <a:t>→</a:t>
            </a:r>
          </a:p>
        </p:txBody>
      </p:sp>
      <p:sp>
        <p:nvSpPr>
          <p:cNvPr id="146" name="Rounded Rectangle 17"/>
          <p:cNvSpPr/>
          <p:nvPr/>
        </p:nvSpPr>
        <p:spPr>
          <a:xfrm>
            <a:off x="7589518" y="2057400"/>
            <a:ext cx="2057401" cy="2286000"/>
          </a:xfrm>
          <a:prstGeom prst="roundRect">
            <a:avLst>
              <a:gd name="adj" fmla="val 16667"/>
            </a:avLst>
          </a:prstGeom>
          <a:solidFill>
            <a:srgbClr val="F2F6F9"/>
          </a:solidFill>
          <a:ln>
            <a:solidFill>
              <a:srgbClr val="E8AA4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47" name="TextBox 18"/>
          <p:cNvSpPr txBox="1"/>
          <p:nvPr/>
        </p:nvSpPr>
        <p:spPr>
          <a:xfrm>
            <a:off x="7763255" y="2331720"/>
            <a:ext cx="1691640" cy="332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Test</a:t>
            </a:r>
          </a:p>
        </p:txBody>
      </p:sp>
      <p:sp>
        <p:nvSpPr>
          <p:cNvPr id="148" name="TextBox 19"/>
          <p:cNvSpPr txBox="1"/>
          <p:nvPr/>
        </p:nvSpPr>
        <p:spPr>
          <a:xfrm>
            <a:off x="7763255" y="2926079"/>
            <a:ext cx="1691640" cy="1158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500">
                <a:latin typeface="Times Roman"/>
                <a:ea typeface="Times Roman"/>
                <a:cs typeface="Times Roman"/>
                <a:sym typeface="Times Roman"/>
              </a:defRPr>
            </a:lvl1pPr>
          </a:lstStyle>
          <a:p>
            <a:pPr/>
            <a:r>
              <a:t>Check compilation, order, descriptions, and images.</a:t>
            </a:r>
          </a:p>
        </p:txBody>
      </p:sp>
      <p:sp>
        <p:nvSpPr>
          <p:cNvPr id="149" name="TextBox 20"/>
          <p:cNvSpPr txBox="1"/>
          <p:nvPr/>
        </p:nvSpPr>
        <p:spPr>
          <a:xfrm>
            <a:off x="9701783" y="2880360"/>
            <a:ext cx="1371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000">
                <a:solidFill>
                  <a:srgbClr val="00828C"/>
                </a:solidFill>
                <a:latin typeface="Aptos"/>
                <a:ea typeface="Aptos"/>
                <a:cs typeface="Aptos"/>
                <a:sym typeface="Aptos"/>
              </a:defRPr>
            </a:lvl1pPr>
          </a:lstStyle>
          <a:p>
            <a:pPr/>
            <a:r>
              <a:t>→</a:t>
            </a:r>
          </a:p>
        </p:txBody>
      </p:sp>
      <p:sp>
        <p:nvSpPr>
          <p:cNvPr id="150" name="Rounded Rectangle 21"/>
          <p:cNvSpPr/>
          <p:nvPr/>
        </p:nvSpPr>
        <p:spPr>
          <a:xfrm>
            <a:off x="9921240" y="2057400"/>
            <a:ext cx="2057401" cy="2286000"/>
          </a:xfrm>
          <a:prstGeom prst="roundRect">
            <a:avLst>
              <a:gd name="adj" fmla="val 16667"/>
            </a:avLst>
          </a:prstGeom>
          <a:solidFill>
            <a:srgbClr val="F2F6F9"/>
          </a:solidFill>
          <a:ln>
            <a:solidFill>
              <a:srgbClr val="00828C"/>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1" name="TextBox 22"/>
          <p:cNvSpPr txBox="1"/>
          <p:nvPr/>
        </p:nvSpPr>
        <p:spPr>
          <a:xfrm>
            <a:off x="10094976" y="2331720"/>
            <a:ext cx="1691640"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600">
                <a:solidFill>
                  <a:srgbClr val="182D4A"/>
                </a:solidFill>
                <a:latin typeface="Aptos"/>
                <a:ea typeface="Aptos"/>
                <a:cs typeface="Aptos"/>
                <a:sym typeface="Aptos"/>
              </a:defRPr>
            </a:lvl1pPr>
          </a:lstStyle>
          <a:p>
            <a:pPr/>
            <a:r>
              <a:t>Release &amp; maintain</a:t>
            </a:r>
          </a:p>
        </p:txBody>
      </p:sp>
      <p:sp>
        <p:nvSpPr>
          <p:cNvPr id="152" name="TextBox 23"/>
          <p:cNvSpPr txBox="1"/>
          <p:nvPr/>
        </p:nvSpPr>
        <p:spPr>
          <a:xfrm>
            <a:off x="10094976" y="2926079"/>
            <a:ext cx="1691640" cy="1386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500">
                <a:latin typeface="Times Roman"/>
                <a:ea typeface="Times Roman"/>
                <a:cs typeface="Times Roman"/>
                <a:sym typeface="Times Roman"/>
              </a:defRPr>
            </a:lvl1pPr>
          </a:lstStyle>
          <a:p>
            <a:pPr/>
            <a:r>
              <a:t>Deliver the increment; fix issues and refine the backlog.</a:t>
            </a:r>
          </a:p>
        </p:txBody>
      </p:sp>
      <p:sp>
        <p:nvSpPr>
          <p:cNvPr id="153" name="TextBox 24"/>
          <p:cNvSpPr txBox="1"/>
          <p:nvPr/>
        </p:nvSpPr>
        <p:spPr>
          <a:xfrm>
            <a:off x="822960" y="4983479"/>
            <a:ext cx="10424161" cy="92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500">
                <a:latin typeface="Times Roman"/>
                <a:ea typeface="Times Roman"/>
                <a:cs typeface="Times Roman"/>
                <a:sym typeface="Times Roman"/>
              </a:defRPr>
            </a:lvl1pPr>
          </a:lstStyle>
          <a:p>
            <a:pPr/>
            <a:r>
              <a:t>Repeat the process of reviewing the increments, learning from feedback, and re-prioritizing the work for the next iteration. Testing and quality control are essential during all stages of development.</a:t>
            </a:r>
          </a:p>
        </p:txBody>
      </p:sp>
      <p:sp>
        <p:nvSpPr>
          <p:cNvPr id="154" name="TextBox 25"/>
          <p:cNvSpPr txBox="1"/>
          <p:nvPr/>
        </p:nvSpPr>
        <p:spPr>
          <a:xfrm>
            <a:off x="822959" y="5897879"/>
            <a:ext cx="10698482"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100">
                <a:solidFill>
                  <a:srgbClr val="5F6C78"/>
                </a:solidFill>
                <a:latin typeface="Aptos"/>
                <a:ea typeface="Aptos"/>
                <a:cs typeface="Aptos"/>
                <a:sym typeface="Aptos"/>
              </a:defRPr>
            </a:lvl1pPr>
          </a:lstStyle>
          <a:p>
            <a:pPr/>
            <a:r>
              <a:t>Source: Jackson et al. (2025).</a:t>
            </a:r>
          </a:p>
        </p:txBody>
      </p:sp>
      <p:sp>
        <p:nvSpPr>
          <p:cNvPr id="155" name="TextBox 26"/>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156" name="TextBox 27"/>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59"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4. How Waterfall would differ</a:t>
            </a:r>
          </a:p>
        </p:txBody>
      </p:sp>
      <p:sp>
        <p:nvSpPr>
          <p:cNvPr id="160"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61"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A sequential model can be predictable—but costly to change late</a:t>
            </a:r>
          </a:p>
        </p:txBody>
      </p:sp>
      <p:grpSp>
        <p:nvGrpSpPr>
          <p:cNvPr id="164" name="Rectangle 5"/>
          <p:cNvGrpSpPr/>
          <p:nvPr/>
        </p:nvGrpSpPr>
        <p:grpSpPr>
          <a:xfrm>
            <a:off x="822960" y="2011679"/>
            <a:ext cx="1417321" cy="502920"/>
            <a:chOff x="0" y="0"/>
            <a:chExt cx="1417319" cy="502919"/>
          </a:xfrm>
        </p:grpSpPr>
        <p:sp>
          <p:nvSpPr>
            <p:cNvPr id="162" name="Rectangle"/>
            <p:cNvSpPr/>
            <p:nvPr/>
          </p:nvSpPr>
          <p:spPr>
            <a:xfrm>
              <a:off x="0" y="-1"/>
              <a:ext cx="1417320" cy="502921"/>
            </a:xfrm>
            <a:prstGeom prst="rect">
              <a:avLst/>
            </a:prstGeom>
            <a:solidFill>
              <a:srgbClr val="182D4A"/>
            </a:solidFill>
            <a:ln w="12700" cap="flat">
              <a:noFill/>
              <a:miter lim="400000"/>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algn="ctr">
                <a:defRPr b="1" sz="1200">
                  <a:solidFill>
                    <a:srgbClr val="FFFFFF"/>
                  </a:solidFill>
                </a:defRPr>
              </a:pPr>
            </a:p>
          </p:txBody>
        </p:sp>
        <p:sp>
          <p:nvSpPr>
            <p:cNvPr id="163" name="Requirements"/>
            <p:cNvSpPr txBox="1"/>
            <p:nvPr/>
          </p:nvSpPr>
          <p:spPr>
            <a:xfrm>
              <a:off x="45720" y="127307"/>
              <a:ext cx="1325880"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defRPr>
              </a:lvl1pPr>
            </a:lstStyle>
            <a:p>
              <a:pPr/>
              <a:r>
                <a:t>Requirements</a:t>
              </a:r>
            </a:p>
          </p:txBody>
        </p:sp>
      </p:grpSp>
      <p:grpSp>
        <p:nvGrpSpPr>
          <p:cNvPr id="167" name="Rectangle 6"/>
          <p:cNvGrpSpPr/>
          <p:nvPr/>
        </p:nvGrpSpPr>
        <p:grpSpPr>
          <a:xfrm>
            <a:off x="2377439" y="2514599"/>
            <a:ext cx="1417321" cy="502921"/>
            <a:chOff x="0" y="0"/>
            <a:chExt cx="1417319" cy="502919"/>
          </a:xfrm>
        </p:grpSpPr>
        <p:sp>
          <p:nvSpPr>
            <p:cNvPr id="165" name="Rectangle"/>
            <p:cNvSpPr/>
            <p:nvPr/>
          </p:nvSpPr>
          <p:spPr>
            <a:xfrm>
              <a:off x="0" y="-1"/>
              <a:ext cx="1417320" cy="502921"/>
            </a:xfrm>
            <a:prstGeom prst="rect">
              <a:avLst/>
            </a:prstGeom>
            <a:solidFill>
              <a:srgbClr val="00828C"/>
            </a:solidFill>
            <a:ln w="12700" cap="flat">
              <a:noFill/>
              <a:miter lim="400000"/>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algn="ctr">
                <a:defRPr b="1" sz="1200">
                  <a:solidFill>
                    <a:srgbClr val="FFFFFF"/>
                  </a:solidFill>
                </a:defRPr>
              </a:pPr>
            </a:p>
          </p:txBody>
        </p:sp>
        <p:sp>
          <p:nvSpPr>
            <p:cNvPr id="166" name="Design"/>
            <p:cNvSpPr txBox="1"/>
            <p:nvPr/>
          </p:nvSpPr>
          <p:spPr>
            <a:xfrm>
              <a:off x="45720" y="127307"/>
              <a:ext cx="1325880"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defRPr>
              </a:lvl1pPr>
            </a:lstStyle>
            <a:p>
              <a:pPr/>
              <a:r>
                <a:t>Design</a:t>
              </a:r>
            </a:p>
          </p:txBody>
        </p:sp>
      </p:grpSp>
      <p:grpSp>
        <p:nvGrpSpPr>
          <p:cNvPr id="170" name="Rectangle 7"/>
          <p:cNvGrpSpPr/>
          <p:nvPr/>
        </p:nvGrpSpPr>
        <p:grpSpPr>
          <a:xfrm>
            <a:off x="3931920" y="3017520"/>
            <a:ext cx="1417321" cy="502920"/>
            <a:chOff x="0" y="0"/>
            <a:chExt cx="1417319" cy="502919"/>
          </a:xfrm>
        </p:grpSpPr>
        <p:sp>
          <p:nvSpPr>
            <p:cNvPr id="168" name="Rectangle"/>
            <p:cNvSpPr/>
            <p:nvPr/>
          </p:nvSpPr>
          <p:spPr>
            <a:xfrm>
              <a:off x="0" y="-1"/>
              <a:ext cx="1417320" cy="502921"/>
            </a:xfrm>
            <a:prstGeom prst="rect">
              <a:avLst/>
            </a:prstGeom>
            <a:solidFill>
              <a:srgbClr val="182D4A"/>
            </a:solidFill>
            <a:ln w="12700" cap="flat">
              <a:noFill/>
              <a:miter lim="400000"/>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algn="ctr">
                <a:defRPr b="1" sz="1200">
                  <a:solidFill>
                    <a:srgbClr val="FFFFFF"/>
                  </a:solidFill>
                </a:defRPr>
              </a:pPr>
            </a:p>
          </p:txBody>
        </p:sp>
        <p:sp>
          <p:nvSpPr>
            <p:cNvPr id="169" name="Implementation"/>
            <p:cNvSpPr txBox="1"/>
            <p:nvPr/>
          </p:nvSpPr>
          <p:spPr>
            <a:xfrm>
              <a:off x="45720" y="127307"/>
              <a:ext cx="1325880"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defRPr>
              </a:lvl1pPr>
            </a:lstStyle>
            <a:p>
              <a:pPr/>
              <a:r>
                <a:t>Implementation</a:t>
              </a:r>
            </a:p>
          </p:txBody>
        </p:sp>
      </p:grpSp>
      <p:grpSp>
        <p:nvGrpSpPr>
          <p:cNvPr id="173" name="Rectangle 8"/>
          <p:cNvGrpSpPr/>
          <p:nvPr/>
        </p:nvGrpSpPr>
        <p:grpSpPr>
          <a:xfrm>
            <a:off x="5486400" y="3520440"/>
            <a:ext cx="1417320" cy="502920"/>
            <a:chOff x="0" y="0"/>
            <a:chExt cx="1417319" cy="502919"/>
          </a:xfrm>
        </p:grpSpPr>
        <p:sp>
          <p:nvSpPr>
            <p:cNvPr id="171" name="Rectangle"/>
            <p:cNvSpPr/>
            <p:nvPr/>
          </p:nvSpPr>
          <p:spPr>
            <a:xfrm>
              <a:off x="0" y="-1"/>
              <a:ext cx="1417320" cy="502921"/>
            </a:xfrm>
            <a:prstGeom prst="rect">
              <a:avLst/>
            </a:prstGeom>
            <a:solidFill>
              <a:srgbClr val="00828C"/>
            </a:solidFill>
            <a:ln w="12700" cap="flat">
              <a:noFill/>
              <a:miter lim="400000"/>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algn="ctr">
                <a:defRPr b="1" sz="1200">
                  <a:solidFill>
                    <a:srgbClr val="FFFFFF"/>
                  </a:solidFill>
                </a:defRPr>
              </a:pPr>
            </a:p>
          </p:txBody>
        </p:sp>
        <p:sp>
          <p:nvSpPr>
            <p:cNvPr id="172" name="Testing"/>
            <p:cNvSpPr txBox="1"/>
            <p:nvPr/>
          </p:nvSpPr>
          <p:spPr>
            <a:xfrm>
              <a:off x="45720" y="127307"/>
              <a:ext cx="1325880"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defRPr>
              </a:lvl1pPr>
            </a:lstStyle>
            <a:p>
              <a:pPr/>
              <a:r>
                <a:t>Testing</a:t>
              </a:r>
            </a:p>
          </p:txBody>
        </p:sp>
      </p:grpSp>
      <p:grpSp>
        <p:nvGrpSpPr>
          <p:cNvPr id="176" name="Rectangle 9"/>
          <p:cNvGrpSpPr/>
          <p:nvPr/>
        </p:nvGrpSpPr>
        <p:grpSpPr>
          <a:xfrm>
            <a:off x="7040880" y="4023359"/>
            <a:ext cx="1417321" cy="502920"/>
            <a:chOff x="0" y="0"/>
            <a:chExt cx="1417319" cy="502919"/>
          </a:xfrm>
        </p:grpSpPr>
        <p:sp>
          <p:nvSpPr>
            <p:cNvPr id="174" name="Rectangle"/>
            <p:cNvSpPr/>
            <p:nvPr/>
          </p:nvSpPr>
          <p:spPr>
            <a:xfrm>
              <a:off x="0" y="-1"/>
              <a:ext cx="1417320" cy="502921"/>
            </a:xfrm>
            <a:prstGeom prst="rect">
              <a:avLst/>
            </a:prstGeom>
            <a:solidFill>
              <a:srgbClr val="182D4A"/>
            </a:solidFill>
            <a:ln w="12700" cap="flat">
              <a:noFill/>
              <a:miter lim="400000"/>
            </a:ln>
            <a:effectLst>
              <a:outerShdw sx="100000" sy="100000" kx="0" ky="0" algn="b" rotWithShape="0" blurRad="38100" dist="23000" dir="5400000">
                <a:srgbClr val="000000">
                  <a:alpha val="35000"/>
                </a:srgbClr>
              </a:outerShdw>
            </a:effectLst>
          </p:spPr>
          <p:txBody>
            <a:bodyPr wrap="square" lIns="45719" tIns="45719" rIns="45719" bIns="45719" numCol="1" anchor="ctr">
              <a:noAutofit/>
            </a:bodyPr>
            <a:lstStyle/>
            <a:p>
              <a:pPr algn="ctr">
                <a:defRPr b="1" sz="1200">
                  <a:solidFill>
                    <a:srgbClr val="FFFFFF"/>
                  </a:solidFill>
                </a:defRPr>
              </a:pPr>
            </a:p>
          </p:txBody>
        </p:sp>
        <p:sp>
          <p:nvSpPr>
            <p:cNvPr id="175" name="Deployment"/>
            <p:cNvSpPr txBox="1"/>
            <p:nvPr/>
          </p:nvSpPr>
          <p:spPr>
            <a:xfrm>
              <a:off x="45720" y="127307"/>
              <a:ext cx="1325880"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defRPr>
              </a:lvl1pPr>
            </a:lstStyle>
            <a:p>
              <a:pPr/>
              <a:r>
                <a:t>Deployment</a:t>
              </a:r>
            </a:p>
          </p:txBody>
        </p:sp>
      </p:grpSp>
      <p:sp>
        <p:nvSpPr>
          <p:cNvPr id="177" name="TextBox 10"/>
          <p:cNvSpPr txBox="1"/>
          <p:nvPr/>
        </p:nvSpPr>
        <p:spPr>
          <a:xfrm>
            <a:off x="868680" y="5166359"/>
            <a:ext cx="6675120" cy="32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500">
                <a:solidFill>
                  <a:srgbClr val="5F6C78"/>
                </a:solidFill>
                <a:latin typeface="Aptos"/>
                <a:ea typeface="Aptos"/>
                <a:cs typeface="Aptos"/>
                <a:sym typeface="Aptos"/>
              </a:defRPr>
            </a:lvl1pPr>
          </a:lstStyle>
          <a:p>
            <a:pPr/>
            <a:r>
              <a:t>Change requests may require revisiting approved stages and documentation.</a:t>
            </a:r>
          </a:p>
        </p:txBody>
      </p:sp>
      <p:sp>
        <p:nvSpPr>
          <p:cNvPr id="178" name="Rounded Rectangle 11"/>
          <p:cNvSpPr/>
          <p:nvPr/>
        </p:nvSpPr>
        <p:spPr>
          <a:xfrm>
            <a:off x="8229600" y="1828800"/>
            <a:ext cx="3108961" cy="3474721"/>
          </a:xfrm>
          <a:prstGeom prst="roundRect">
            <a:avLst>
              <a:gd name="adj" fmla="val 16667"/>
            </a:avLst>
          </a:prstGeom>
          <a:solidFill>
            <a:srgbClr val="F2F6F9"/>
          </a:solidFill>
          <a:ln>
            <a:solidFill>
              <a:srgbClr val="E8AA41"/>
            </a:solidFill>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79" name="TextBox 12"/>
          <p:cNvSpPr txBox="1"/>
          <p:nvPr/>
        </p:nvSpPr>
        <p:spPr>
          <a:xfrm>
            <a:off x="8549639" y="2103120"/>
            <a:ext cx="2468881"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1700">
                <a:solidFill>
                  <a:srgbClr val="00828C"/>
                </a:solidFill>
                <a:latin typeface="Aptos"/>
                <a:ea typeface="Aptos"/>
                <a:cs typeface="Aptos"/>
                <a:sym typeface="Aptos"/>
              </a:defRPr>
            </a:lvl1pPr>
          </a:lstStyle>
          <a:p>
            <a:pPr/>
            <a:r>
              <a:t>SNHU Travel scenario</a:t>
            </a:r>
          </a:p>
        </p:txBody>
      </p:sp>
      <p:sp>
        <p:nvSpPr>
          <p:cNvPr id="180" name="TextBox 13"/>
          <p:cNvSpPr txBox="1"/>
          <p:nvPr/>
        </p:nvSpPr>
        <p:spPr>
          <a:xfrm>
            <a:off x="8549639" y="2697479"/>
            <a:ext cx="2468881" cy="275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400">
                <a:latin typeface="Times Roman"/>
                <a:ea typeface="Times Roman"/>
                <a:cs typeface="Times Roman"/>
                <a:sym typeface="Times Roman"/>
              </a:defRPr>
            </a:lvl1pPr>
          </a:lstStyle>
          <a:p>
            <a:pPr/>
            <a:r>
              <a:t>The use of images appearing in the wrong sequence during late testing may require a formal change and retest cycle for a waterfall team. Conversely, with an agile methodology, the team can address the resource mapping issue within the next work cycle and review the results earlier.</a:t>
            </a:r>
          </a:p>
        </p:txBody>
      </p:sp>
      <p:sp>
        <p:nvSpPr>
          <p:cNvPr id="181" name="TextBox 14"/>
          <p:cNvSpPr txBox="1"/>
          <p:nvPr/>
        </p:nvSpPr>
        <p:spPr>
          <a:xfrm>
            <a:off x="822959" y="5897879"/>
            <a:ext cx="10698482" cy="256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100">
                <a:solidFill>
                  <a:srgbClr val="5F6C78"/>
                </a:solidFill>
                <a:latin typeface="Aptos"/>
                <a:ea typeface="Aptos"/>
                <a:cs typeface="Aptos"/>
                <a:sym typeface="Aptos"/>
              </a:defRPr>
            </a:lvl1pPr>
          </a:lstStyle>
          <a:p>
            <a:pPr/>
            <a:r>
              <a:t>Sources: Atlassian (n.d.); Jackson et al. (2025).</a:t>
            </a:r>
          </a:p>
        </p:txBody>
      </p:sp>
      <p:sp>
        <p:nvSpPr>
          <p:cNvPr id="182" name="TextBox 15"/>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183" name="TextBox 16"/>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6"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5. Choosing Waterfall or Agile</a:t>
            </a:r>
          </a:p>
        </p:txBody>
      </p:sp>
      <p:sp>
        <p:nvSpPr>
          <p:cNvPr id="187"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88"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Match the approach to uncertainty, risk, and stakeholder access</a:t>
            </a:r>
          </a:p>
        </p:txBody>
      </p:sp>
      <p:graphicFrame>
        <p:nvGraphicFramePr>
          <p:cNvPr id="189" name="Table 5"/>
          <p:cNvGraphicFramePr/>
          <p:nvPr/>
        </p:nvGraphicFramePr>
        <p:xfrm>
          <a:off x="685800" y="1783079"/>
          <a:ext cx="10835641" cy="342900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194560"/>
                <a:gridCol w="4297680"/>
                <a:gridCol w="4343400"/>
              </a:tblGrid>
              <a:tr h="685800">
                <a:tc>
                  <a:txBody>
                    <a:bodyPr/>
                    <a:lstStyle/>
                    <a:p>
                      <a:pPr algn="l">
                        <a:defRPr b="0" sz="1800">
                          <a:solidFill>
                            <a:srgbClr val="000000"/>
                          </a:solidFill>
                        </a:defRPr>
                      </a:pPr>
                      <a:r>
                        <a:rPr b="1" sz="1400">
                          <a:solidFill>
                            <a:srgbClr val="FFFFFF"/>
                          </a:solidFill>
                          <a:latin typeface="Aptos"/>
                          <a:ea typeface="Aptos"/>
                          <a:cs typeface="Aptos"/>
                          <a:sym typeface="Aptos"/>
                        </a:rPr>
                        <a:t>Consideration</a:t>
                      </a:r>
                    </a:p>
                  </a:txBody>
                  <a:tcPr marL="45720" marR="45720" marT="45720" marB="45720" anchor="t" anchorCtr="0" horzOverflow="overflow">
                    <a:solidFill>
                      <a:srgbClr val="182D4A"/>
                    </a:solidFill>
                  </a:tcPr>
                </a:tc>
                <a:tc>
                  <a:txBody>
                    <a:bodyPr/>
                    <a:lstStyle/>
                    <a:p>
                      <a:pPr algn="l">
                        <a:defRPr b="0" sz="1800">
                          <a:solidFill>
                            <a:srgbClr val="000000"/>
                          </a:solidFill>
                        </a:defRPr>
                      </a:pPr>
                      <a:r>
                        <a:rPr b="1" sz="1400">
                          <a:solidFill>
                            <a:srgbClr val="FFFFFF"/>
                          </a:solidFill>
                          <a:latin typeface="Aptos"/>
                          <a:ea typeface="Aptos"/>
                          <a:cs typeface="Aptos"/>
                          <a:sym typeface="Aptos"/>
                        </a:rPr>
                        <a:t>Agile / Scrum</a:t>
                      </a:r>
                    </a:p>
                  </a:txBody>
                  <a:tcPr marL="45720" marR="45720" marT="45720" marB="45720" anchor="t" anchorCtr="0" horzOverflow="overflow">
                    <a:solidFill>
                      <a:srgbClr val="182D4A"/>
                    </a:solidFill>
                  </a:tcPr>
                </a:tc>
                <a:tc>
                  <a:txBody>
                    <a:bodyPr/>
                    <a:lstStyle/>
                    <a:p>
                      <a:pPr algn="l">
                        <a:defRPr b="0" sz="1800">
                          <a:solidFill>
                            <a:srgbClr val="000000"/>
                          </a:solidFill>
                        </a:defRPr>
                      </a:pPr>
                      <a:r>
                        <a:rPr b="1" sz="1400">
                          <a:solidFill>
                            <a:srgbClr val="FFFFFF"/>
                          </a:solidFill>
                          <a:latin typeface="Aptos"/>
                          <a:ea typeface="Aptos"/>
                          <a:cs typeface="Aptos"/>
                          <a:sym typeface="Aptos"/>
                        </a:rPr>
                        <a:t>Waterfall</a:t>
                      </a:r>
                    </a:p>
                  </a:txBody>
                  <a:tcPr marL="45720" marR="45720" marT="45720" marB="45720" anchor="t" anchorCtr="0" horzOverflow="overflow">
                    <a:solidFill>
                      <a:srgbClr val="182D4A"/>
                    </a:solidFill>
                  </a:tcPr>
                </a:tc>
              </a:tr>
              <a:tr h="685800">
                <a:tc>
                  <a:txBody>
                    <a:bodyPr/>
                    <a:lstStyle/>
                    <a:p>
                      <a:pPr algn="l">
                        <a:defRPr sz="1800"/>
                      </a:pPr>
                      <a:r>
                        <a:rPr b="1" sz="1300">
                          <a:solidFill>
                            <a:srgbClr val="26303A"/>
                          </a:solidFill>
                          <a:latin typeface="Aptos"/>
                          <a:ea typeface="Aptos"/>
                          <a:cs typeface="Aptos"/>
                          <a:sym typeface="Aptos"/>
                        </a:rPr>
                        <a:t>Requirements</a:t>
                      </a:r>
                    </a:p>
                  </a:txBody>
                  <a:tcPr marL="45720" marR="45720" marT="45720" marB="45720" anchor="t" anchorCtr="0" horzOverflow="overflow">
                    <a:solidFill>
                      <a:srgbClr val="F2F6F9"/>
                    </a:solidFill>
                  </a:tcPr>
                </a:tc>
                <a:tc>
                  <a:txBody>
                    <a:bodyPr/>
                    <a:lstStyle/>
                    <a:p>
                      <a:pPr algn="l">
                        <a:defRPr sz="1800"/>
                      </a:pPr>
                      <a:r>
                        <a:rPr sz="1300">
                          <a:solidFill>
                            <a:srgbClr val="26303A"/>
                          </a:solidFill>
                          <a:latin typeface="Aptos"/>
                          <a:ea typeface="Aptos"/>
                          <a:cs typeface="Aptos"/>
                          <a:sym typeface="Aptos"/>
                        </a:rPr>
                        <a:t>Likely to evolve; learning expected</a:t>
                      </a:r>
                    </a:p>
                  </a:txBody>
                  <a:tcPr marL="45720" marR="45720" marT="45720" marB="45720" anchor="t" anchorCtr="0" horzOverflow="overflow">
                    <a:solidFill>
                      <a:srgbClr val="F2F6F9"/>
                    </a:solidFill>
                  </a:tcPr>
                </a:tc>
                <a:tc>
                  <a:txBody>
                    <a:bodyPr/>
                    <a:lstStyle/>
                    <a:p>
                      <a:pPr algn="l">
                        <a:defRPr sz="1800"/>
                      </a:pPr>
                      <a:r>
                        <a:rPr sz="1300">
                          <a:solidFill>
                            <a:srgbClr val="26303A"/>
                          </a:solidFill>
                          <a:latin typeface="Aptos"/>
                          <a:ea typeface="Aptos"/>
                          <a:cs typeface="Aptos"/>
                          <a:sym typeface="Aptos"/>
                        </a:rPr>
                        <a:t>Stable and well-defined</a:t>
                      </a:r>
                    </a:p>
                  </a:txBody>
                  <a:tcPr marL="45720" marR="45720" marT="45720" marB="45720" anchor="t" anchorCtr="0" horzOverflow="overflow">
                    <a:solidFill>
                      <a:srgbClr val="F2F6F9"/>
                    </a:solidFill>
                  </a:tcPr>
                </a:tc>
              </a:tr>
              <a:tr h="685800">
                <a:tc>
                  <a:txBody>
                    <a:bodyPr/>
                    <a:lstStyle/>
                    <a:p>
                      <a:pPr algn="l">
                        <a:defRPr sz="1800"/>
                      </a:pPr>
                      <a:r>
                        <a:rPr b="1" sz="1300">
                          <a:solidFill>
                            <a:srgbClr val="26303A"/>
                          </a:solidFill>
                          <a:latin typeface="Aptos"/>
                          <a:ea typeface="Aptos"/>
                          <a:cs typeface="Aptos"/>
                          <a:sym typeface="Aptos"/>
                        </a:rPr>
                        <a:t>Feedback</a:t>
                      </a:r>
                    </a:p>
                  </a:txBody>
                  <a:tcPr marL="45720" marR="45720" marT="45720" marB="45720" anchor="t" anchorCtr="0" horzOverflow="overflow">
                    <a:solidFill>
                      <a:srgbClr val="FFFFFF"/>
                    </a:solidFill>
                  </a:tcPr>
                </a:tc>
                <a:tc>
                  <a:txBody>
                    <a:bodyPr/>
                    <a:lstStyle/>
                    <a:p>
                      <a:pPr algn="l">
                        <a:defRPr sz="1800"/>
                      </a:pPr>
                      <a:r>
                        <a:rPr sz="1300">
                          <a:solidFill>
                            <a:srgbClr val="26303A"/>
                          </a:solidFill>
                          <a:latin typeface="Aptos"/>
                          <a:ea typeface="Aptos"/>
                          <a:cs typeface="Aptos"/>
                          <a:sym typeface="Aptos"/>
                        </a:rPr>
                        <a:t>Frequent stakeholder inspection</a:t>
                      </a:r>
                    </a:p>
                  </a:txBody>
                  <a:tcPr marL="45720" marR="45720" marT="45720" marB="45720" anchor="t" anchorCtr="0" horzOverflow="overflow">
                    <a:solidFill>
                      <a:srgbClr val="FFFFFF"/>
                    </a:solidFill>
                  </a:tcPr>
                </a:tc>
                <a:tc>
                  <a:txBody>
                    <a:bodyPr/>
                    <a:lstStyle/>
                    <a:p>
                      <a:pPr algn="l">
                        <a:defRPr sz="1800"/>
                      </a:pPr>
                      <a:r>
                        <a:rPr sz="1300">
                          <a:solidFill>
                            <a:srgbClr val="26303A"/>
                          </a:solidFill>
                          <a:latin typeface="Aptos"/>
                          <a:ea typeface="Aptos"/>
                          <a:cs typeface="Aptos"/>
                          <a:sym typeface="Aptos"/>
                        </a:rPr>
                        <a:t>Major milestone reviews</a:t>
                      </a:r>
                    </a:p>
                  </a:txBody>
                  <a:tcPr marL="45720" marR="45720" marT="45720" marB="45720" anchor="t" anchorCtr="0" horzOverflow="overflow">
                    <a:solidFill>
                      <a:srgbClr val="FFFFFF"/>
                    </a:solidFill>
                  </a:tcPr>
                </a:tc>
              </a:tr>
              <a:tr h="685800">
                <a:tc>
                  <a:txBody>
                    <a:bodyPr/>
                    <a:lstStyle/>
                    <a:p>
                      <a:pPr algn="l">
                        <a:defRPr sz="1800"/>
                      </a:pPr>
                      <a:r>
                        <a:rPr b="1" sz="1300">
                          <a:solidFill>
                            <a:srgbClr val="26303A"/>
                          </a:solidFill>
                          <a:latin typeface="Aptos"/>
                          <a:ea typeface="Aptos"/>
                          <a:cs typeface="Aptos"/>
                          <a:sym typeface="Aptos"/>
                        </a:rPr>
                        <a:t>Delivery</a:t>
                      </a:r>
                    </a:p>
                  </a:txBody>
                  <a:tcPr marL="45720" marR="45720" marT="45720" marB="45720" anchor="t" anchorCtr="0" horzOverflow="overflow">
                    <a:solidFill>
                      <a:srgbClr val="F2F6F9"/>
                    </a:solidFill>
                  </a:tcPr>
                </a:tc>
                <a:tc>
                  <a:txBody>
                    <a:bodyPr/>
                    <a:lstStyle/>
                    <a:p>
                      <a:pPr algn="l">
                        <a:defRPr sz="1800"/>
                      </a:pPr>
                      <a:r>
                        <a:rPr sz="1300">
                          <a:solidFill>
                            <a:srgbClr val="26303A"/>
                          </a:solidFill>
                          <a:latin typeface="Aptos"/>
                          <a:ea typeface="Aptos"/>
                          <a:cs typeface="Aptos"/>
                          <a:sym typeface="Aptos"/>
                        </a:rPr>
                        <a:t>Incremental, usable slices</a:t>
                      </a:r>
                    </a:p>
                  </a:txBody>
                  <a:tcPr marL="45720" marR="45720" marT="45720" marB="45720" anchor="t" anchorCtr="0" horzOverflow="overflow">
                    <a:solidFill>
                      <a:srgbClr val="F2F6F9"/>
                    </a:solidFill>
                  </a:tcPr>
                </a:tc>
                <a:tc>
                  <a:txBody>
                    <a:bodyPr/>
                    <a:lstStyle/>
                    <a:p>
                      <a:pPr algn="l">
                        <a:defRPr sz="1800"/>
                      </a:pPr>
                      <a:r>
                        <a:rPr sz="1300">
                          <a:solidFill>
                            <a:srgbClr val="26303A"/>
                          </a:solidFill>
                          <a:latin typeface="Aptos"/>
                          <a:ea typeface="Aptos"/>
                          <a:cs typeface="Aptos"/>
                          <a:sym typeface="Aptos"/>
                        </a:rPr>
                        <a:t>Larger delivery after sequential phases</a:t>
                      </a:r>
                    </a:p>
                  </a:txBody>
                  <a:tcPr marL="45720" marR="45720" marT="45720" marB="45720" anchor="t" anchorCtr="0" horzOverflow="overflow">
                    <a:solidFill>
                      <a:srgbClr val="F2F6F9"/>
                    </a:solidFill>
                  </a:tcPr>
                </a:tc>
              </a:tr>
              <a:tr h="685800">
                <a:tc>
                  <a:txBody>
                    <a:bodyPr/>
                    <a:lstStyle/>
                    <a:p>
                      <a:pPr algn="l">
                        <a:defRPr sz="1800"/>
                      </a:pPr>
                      <a:r>
                        <a:rPr b="1" sz="1300">
                          <a:solidFill>
                            <a:srgbClr val="26303A"/>
                          </a:solidFill>
                          <a:latin typeface="Aptos"/>
                          <a:ea typeface="Aptos"/>
                          <a:cs typeface="Aptos"/>
                          <a:sym typeface="Aptos"/>
                        </a:rPr>
                        <a:t>Best fit</a:t>
                      </a:r>
                    </a:p>
                  </a:txBody>
                  <a:tcPr marL="45720" marR="45720" marT="45720" marB="45720" anchor="t" anchorCtr="0" horzOverflow="overflow">
                    <a:solidFill>
                      <a:srgbClr val="FFFFFF"/>
                    </a:solidFill>
                  </a:tcPr>
                </a:tc>
                <a:tc>
                  <a:txBody>
                    <a:bodyPr/>
                    <a:lstStyle/>
                    <a:p>
                      <a:pPr algn="l">
                        <a:defRPr sz="1800"/>
                      </a:pPr>
                      <a:r>
                        <a:rPr sz="1300">
                          <a:solidFill>
                            <a:srgbClr val="26303A"/>
                          </a:solidFill>
                          <a:latin typeface="Aptos"/>
                          <a:ea typeface="Aptos"/>
                          <a:cs typeface="Aptos"/>
                          <a:sym typeface="Aptos"/>
                        </a:rPr>
                        <a:t>Innovation and changing user needs</a:t>
                      </a:r>
                    </a:p>
                  </a:txBody>
                  <a:tcPr marL="45720" marR="45720" marT="45720" marB="45720" anchor="t" anchorCtr="0" horzOverflow="overflow">
                    <a:solidFill>
                      <a:srgbClr val="FFFFFF"/>
                    </a:solidFill>
                  </a:tcPr>
                </a:tc>
                <a:tc>
                  <a:txBody>
                    <a:bodyPr/>
                    <a:lstStyle/>
                    <a:p>
                      <a:pPr algn="l">
                        <a:defRPr sz="1800"/>
                      </a:pPr>
                      <a:r>
                        <a:rPr sz="1300">
                          <a:solidFill>
                            <a:srgbClr val="26303A"/>
                          </a:solidFill>
                          <a:latin typeface="Aptos"/>
                          <a:ea typeface="Aptos"/>
                          <a:cs typeface="Aptos"/>
                          <a:sym typeface="Aptos"/>
                        </a:rPr>
                        <a:t>Predictable scope, fixed approvals</a:t>
                      </a:r>
                    </a:p>
                  </a:txBody>
                  <a:tcPr marL="45720" marR="45720" marT="45720" marB="45720" anchor="t" anchorCtr="0" horzOverflow="overflow">
                    <a:solidFill>
                      <a:srgbClr val="FFFFFF"/>
                    </a:solidFill>
                  </a:tcPr>
                </a:tc>
              </a:tr>
            </a:tbl>
          </a:graphicData>
        </a:graphic>
      </p:graphicFrame>
      <p:sp>
        <p:nvSpPr>
          <p:cNvPr id="190" name="TextBox 6"/>
          <p:cNvSpPr txBox="1"/>
          <p:nvPr/>
        </p:nvSpPr>
        <p:spPr>
          <a:xfrm>
            <a:off x="822959" y="5440679"/>
            <a:ext cx="10515602"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200"/>
              </a:spcBef>
              <a:defRPr sz="1300">
                <a:latin typeface="Times Roman"/>
                <a:ea typeface="Times Roman"/>
                <a:cs typeface="Times Roman"/>
                <a:sym typeface="Times Roman"/>
              </a:defRPr>
            </a:lvl1pPr>
          </a:lstStyle>
          <a:p>
            <a:pPr/>
            <a:r>
              <a:t>Recommendation: use Scrum as a pilot with a clear backlog of items to be done, clear acceptance criteria for each item on that backlog, and leadership support. Prior to expanding Scrum beyond the initial pilot, assess the quality of your product and how well you are meeting customer needs.</a:t>
            </a:r>
          </a:p>
        </p:txBody>
      </p:sp>
      <p:sp>
        <p:nvSpPr>
          <p:cNvPr id="191" name="TextBox 7"/>
          <p:cNvSpPr txBox="1"/>
          <p:nvPr/>
        </p:nvSpPr>
        <p:spPr>
          <a:xfrm>
            <a:off x="822959" y="6035040"/>
            <a:ext cx="10698482"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Sources: Atlassian (n.d.); Microsoft (2022); Tozzi (2024); Jackson et al. (2025).</a:t>
            </a:r>
          </a:p>
        </p:txBody>
      </p:sp>
      <p:sp>
        <p:nvSpPr>
          <p:cNvPr id="192" name="TextBox 8"/>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193" name="TextBox 9"/>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6"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6. Lessons learned and recommendation</a:t>
            </a:r>
          </a:p>
        </p:txBody>
      </p:sp>
      <p:sp>
        <p:nvSpPr>
          <p:cNvPr id="197"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198"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What ChadaTech should carry into its pilot</a:t>
            </a:r>
          </a:p>
        </p:txBody>
      </p:sp>
      <p:sp>
        <p:nvSpPr>
          <p:cNvPr id="199" name="TextBox 5"/>
          <p:cNvSpPr txBox="1"/>
          <p:nvPr/>
        </p:nvSpPr>
        <p:spPr>
          <a:xfrm>
            <a:off x="868679" y="1737359"/>
            <a:ext cx="6492242" cy="2682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200"/>
              </a:spcBef>
              <a:defRPr sz="1500">
                <a:latin typeface="Times Roman"/>
                <a:ea typeface="Times Roman"/>
                <a:cs typeface="Times Roman"/>
                <a:sym typeface="Times Roman"/>
              </a:defRPr>
            </a:pPr>
            <a:r>
              <a:t>Refine stories before a Sprint; acceptance criteria reduce ambiguity.</a:t>
            </a:r>
          </a:p>
          <a:p>
            <a:pPr>
              <a:spcBef>
                <a:spcPts val="1200"/>
              </a:spcBef>
              <a:defRPr sz="1500">
                <a:latin typeface="Times Roman"/>
                <a:ea typeface="Times Roman"/>
                <a:cs typeface="Times Roman"/>
                <a:sym typeface="Times Roman"/>
              </a:defRPr>
            </a:pPr>
            <a:r>
              <a:t>When compiling code and creating images for resources, do not treat these issues as "hidden delays," but rather as visible parts of the process.</a:t>
            </a:r>
          </a:p>
          <a:p>
            <a:pPr>
              <a:spcBef>
                <a:spcPts val="1200"/>
              </a:spcBef>
              <a:defRPr sz="1500">
                <a:latin typeface="Times Roman"/>
                <a:ea typeface="Times Roman"/>
                <a:cs typeface="Times Roman"/>
                <a:sym typeface="Times Roman"/>
              </a:defRPr>
            </a:pPr>
            <a:r>
              <a:t>Use the Sprint Review to view the operational software and use the Retrospective to enhance the development process.</a:t>
            </a:r>
          </a:p>
          <a:p>
            <a:pPr>
              <a:spcBef>
                <a:spcPts val="1200"/>
              </a:spcBef>
              <a:defRPr sz="1500">
                <a:latin typeface="Times Roman"/>
                <a:ea typeface="Times Roman"/>
                <a:cs typeface="Times Roman"/>
                <a:sym typeface="Times Roman"/>
              </a:defRPr>
            </a:pPr>
            <a:r>
              <a:t>Protect quality with a Definition of Done and repeatable tests.</a:t>
            </a:r>
          </a:p>
          <a:p>
            <a:pPr>
              <a:spcBef>
                <a:spcPts val="1200"/>
              </a:spcBef>
              <a:defRPr sz="1500">
                <a:latin typeface="Times Roman"/>
                <a:ea typeface="Times Roman"/>
                <a:cs typeface="Times Roman"/>
                <a:sym typeface="Times Roman"/>
              </a:defRPr>
            </a:pPr>
            <a:r>
              <a:t>Scale gradually: coach teams, measure outcomes, and adapt the rollout.</a:t>
            </a:r>
          </a:p>
        </p:txBody>
      </p:sp>
      <p:sp>
        <p:nvSpPr>
          <p:cNvPr id="200" name="Rounded Rectangle 6"/>
          <p:cNvSpPr/>
          <p:nvPr/>
        </p:nvSpPr>
        <p:spPr>
          <a:xfrm>
            <a:off x="7863840" y="1965960"/>
            <a:ext cx="3383281" cy="3063240"/>
          </a:xfrm>
          <a:prstGeom prst="roundRect">
            <a:avLst>
              <a:gd name="adj" fmla="val 16667"/>
            </a:avLst>
          </a:prstGeom>
          <a:solidFill>
            <a:srgbClr val="182D4A"/>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1" name="TextBox 7"/>
          <p:cNvSpPr txBox="1"/>
          <p:nvPr/>
        </p:nvSpPr>
        <p:spPr>
          <a:xfrm>
            <a:off x="8229598" y="2331720"/>
            <a:ext cx="265176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a:solidFill>
                  <a:srgbClr val="E8AA41"/>
                </a:solidFill>
                <a:latin typeface="Aptos"/>
                <a:ea typeface="Aptos"/>
                <a:cs typeface="Aptos"/>
                <a:sym typeface="Aptos"/>
              </a:defRPr>
            </a:lvl1pPr>
          </a:lstStyle>
          <a:p>
            <a:pPr/>
            <a:r>
              <a:t>Recommendation</a:t>
            </a:r>
          </a:p>
        </p:txBody>
      </p:sp>
      <p:sp>
        <p:nvSpPr>
          <p:cNvPr id="202" name="TextBox 8"/>
          <p:cNvSpPr txBox="1"/>
          <p:nvPr/>
        </p:nvSpPr>
        <p:spPr>
          <a:xfrm>
            <a:off x="8229598" y="2926079"/>
            <a:ext cx="2651761" cy="204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a:solidFill>
                  <a:srgbClr val="FFFFFF"/>
                </a:solidFill>
                <a:latin typeface="Aptos"/>
                <a:ea typeface="Aptos"/>
                <a:cs typeface="Aptos"/>
                <a:sym typeface="Aptos"/>
              </a:defRPr>
            </a:lvl1pPr>
          </a:lstStyle>
          <a:p>
            <a:pPr/>
            <a:r>
              <a:t>Use Scrum for SNHU Travel because user-facing requirements and implementation details benefited from iterative testing and refinement.</a:t>
            </a:r>
          </a:p>
        </p:txBody>
      </p:sp>
      <p:sp>
        <p:nvSpPr>
          <p:cNvPr id="203" name="TextBox 9"/>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204" name="TextBox 10"/>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Rectangle 1"/>
          <p:cNvSpPr/>
          <p:nvPr/>
        </p:nvSpPr>
        <p:spPr>
          <a:xfrm>
            <a:off x="-1" y="0"/>
            <a:ext cx="12191697" cy="6858000"/>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7" name="TextBox 2"/>
          <p:cNvSpPr txBox="1"/>
          <p:nvPr/>
        </p:nvSpPr>
        <p:spPr>
          <a:xfrm>
            <a:off x="640079" y="320040"/>
            <a:ext cx="10881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b="1" sz="2800">
                <a:solidFill>
                  <a:srgbClr val="182D4A"/>
                </a:solidFill>
                <a:latin typeface="Aptos"/>
                <a:ea typeface="Aptos"/>
                <a:cs typeface="Aptos"/>
                <a:sym typeface="Aptos"/>
              </a:defRPr>
            </a:lvl1pPr>
          </a:lstStyle>
          <a:p>
            <a:pPr/>
            <a:r>
              <a:t>References</a:t>
            </a:r>
          </a:p>
        </p:txBody>
      </p:sp>
      <p:sp>
        <p:nvSpPr>
          <p:cNvPr id="208" name="Rectangle 3"/>
          <p:cNvSpPr/>
          <p:nvPr/>
        </p:nvSpPr>
        <p:spPr>
          <a:xfrm>
            <a:off x="594359" y="960119"/>
            <a:ext cx="1051562" cy="64009"/>
          </a:xfrm>
          <a:prstGeom prst="rect">
            <a:avLst/>
          </a:prstGeom>
          <a:solidFill>
            <a:srgbClr val="00828C"/>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09" name="TextBox 4"/>
          <p:cNvSpPr txBox="1"/>
          <p:nvPr/>
        </p:nvSpPr>
        <p:spPr>
          <a:xfrm>
            <a:off x="640079" y="1097280"/>
            <a:ext cx="10881361" cy="29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300">
                <a:solidFill>
                  <a:srgbClr val="5F6C78"/>
                </a:solidFill>
                <a:latin typeface="Aptos"/>
                <a:ea typeface="Aptos"/>
                <a:cs typeface="Aptos"/>
                <a:sym typeface="Aptos"/>
              </a:defRPr>
            </a:lvl1pPr>
          </a:lstStyle>
          <a:p>
            <a:pPr/>
            <a:r>
              <a:t>APA-style references for the sources cited in this presentation</a:t>
            </a:r>
          </a:p>
        </p:txBody>
      </p:sp>
      <p:sp>
        <p:nvSpPr>
          <p:cNvPr id="210" name="TextBox 5"/>
          <p:cNvSpPr txBox="1"/>
          <p:nvPr/>
        </p:nvSpPr>
        <p:spPr>
          <a:xfrm>
            <a:off x="822959" y="1691640"/>
            <a:ext cx="10607042" cy="291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300"/>
              </a:spcBef>
              <a:defRPr sz="1400">
                <a:solidFill>
                  <a:srgbClr val="26303A"/>
                </a:solidFill>
                <a:latin typeface="Aptos"/>
                <a:ea typeface="Aptos"/>
                <a:cs typeface="Aptos"/>
                <a:sym typeface="Aptos"/>
              </a:defRPr>
            </a:pPr>
            <a:r>
              <a:t>Atlassian. (n.d.). Waterfall vs. Agile: The differences in project management methodologies. https://www.atlassian.com/agile/project-management/project-management-intro</a:t>
            </a:r>
          </a:p>
          <a:p>
            <a:pPr>
              <a:spcBef>
                <a:spcPts val="1300"/>
              </a:spcBef>
              <a:defRPr sz="1400">
                <a:solidFill>
                  <a:srgbClr val="26303A"/>
                </a:solidFill>
                <a:latin typeface="Aptos"/>
                <a:ea typeface="Aptos"/>
                <a:cs typeface="Aptos"/>
                <a:sym typeface="Aptos"/>
              </a:defRPr>
            </a:pPr>
            <a:r>
              <a:t>Digital.ai. (2024). The 17th State of Agile report. https://digital.ai/press-releases/17th-state-of-agile-report-71-use-agile-in-their-sdlc-small-organizations-report-strong-business-benefits-medium-and-larger-sized-companies-continue-to-experience-barriers-in-successfully-scaling-a/</a:t>
            </a:r>
          </a:p>
          <a:p>
            <a:pPr>
              <a:spcBef>
                <a:spcPts val="1300"/>
              </a:spcBef>
              <a:defRPr sz="1400">
                <a:solidFill>
                  <a:srgbClr val="26303A"/>
                </a:solidFill>
                <a:latin typeface="Aptos"/>
                <a:ea typeface="Aptos"/>
                <a:cs typeface="Aptos"/>
                <a:sym typeface="Aptos"/>
              </a:defRPr>
            </a:pPr>
            <a:r>
              <a:t>Jackson, G., Holdsworth, J., &amp; Kosinski, M. (2025). What is the software development lifecycle (SDLC)? IBM. https://www.ibm.com/think/topics/sdlc</a:t>
            </a:r>
          </a:p>
          <a:p>
            <a:pPr>
              <a:spcBef>
                <a:spcPts val="1300"/>
              </a:spcBef>
              <a:defRPr sz="1400">
                <a:solidFill>
                  <a:srgbClr val="26303A"/>
                </a:solidFill>
                <a:latin typeface="Aptos"/>
                <a:ea typeface="Aptos"/>
                <a:cs typeface="Aptos"/>
                <a:sym typeface="Aptos"/>
              </a:defRPr>
            </a:pPr>
            <a:r>
              <a:t>Schwaber, K., &amp; Sutherland, J. (2020). The Scrum guide: The definitive guide to Scrum: The rules of the game. Scrum Guides. https://scrumguides.org/scrum-guide.html</a:t>
            </a:r>
          </a:p>
          <a:p>
            <a:pPr>
              <a:spcBef>
                <a:spcPts val="1300"/>
              </a:spcBef>
              <a:defRPr sz="1400">
                <a:solidFill>
                  <a:srgbClr val="26303A"/>
                </a:solidFill>
                <a:latin typeface="Aptos"/>
                <a:ea typeface="Aptos"/>
                <a:cs typeface="Aptos"/>
                <a:sym typeface="Aptos"/>
              </a:defRPr>
            </a:pPr>
            <a:r>
              <a:t>Beck, K., et al. (2001). Manifesto for Agile software development. https://agilemanifesto.org/</a:t>
            </a:r>
          </a:p>
        </p:txBody>
      </p:sp>
      <p:sp>
        <p:nvSpPr>
          <p:cNvPr id="211" name="TextBox 6"/>
          <p:cNvSpPr txBox="1"/>
          <p:nvPr/>
        </p:nvSpPr>
        <p:spPr>
          <a:xfrm>
            <a:off x="822959" y="5989320"/>
            <a:ext cx="10515602"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Note: Replace Student Name and confirm course-specific title-page details before submission.</a:t>
            </a:r>
          </a:p>
        </p:txBody>
      </p:sp>
      <p:sp>
        <p:nvSpPr>
          <p:cNvPr id="212" name="TextBox 7"/>
          <p:cNvSpPr txBox="1"/>
          <p:nvPr/>
        </p:nvSpPr>
        <p:spPr>
          <a:xfrm>
            <a:off x="640079" y="6510528"/>
            <a:ext cx="10424161"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900">
                <a:solidFill>
                  <a:srgbClr val="5F6C78"/>
                </a:solidFill>
                <a:latin typeface="Aptos"/>
                <a:ea typeface="Aptos"/>
                <a:cs typeface="Aptos"/>
                <a:sym typeface="Aptos"/>
              </a:defRPr>
            </a:lvl1pPr>
          </a:lstStyle>
          <a:p>
            <a:pPr/>
            <a:r>
              <a:t>ChadaTech | CS 250 | SNHU Travel</a:t>
            </a:r>
          </a:p>
        </p:txBody>
      </p:sp>
      <p:sp>
        <p:nvSpPr>
          <p:cNvPr id="213" name="TextBox 8"/>
          <p:cNvSpPr txBox="1"/>
          <p:nvPr/>
        </p:nvSpPr>
        <p:spPr>
          <a:xfrm>
            <a:off x="11155679" y="6473952"/>
            <a:ext cx="365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700"/>
              </a:spcBef>
              <a:defRPr sz="1000">
                <a:solidFill>
                  <a:srgbClr val="5F6C78"/>
                </a:solidFill>
                <a:latin typeface="Aptos"/>
                <a:ea typeface="Aptos"/>
                <a:cs typeface="Aptos"/>
                <a:sym typeface="Aptos"/>
              </a:defRPr>
            </a:lvl1pPr>
          </a:lstStyle>
          <a:p>
            <a:pPr/>
            <a:r>
              <a:t>8</a:t>
            </a:r>
          </a:p>
        </p:txBody>
      </p:sp>
      <p:sp>
        <p:nvSpPr>
          <p:cNvPr id="214" name="Rectangle 9"/>
          <p:cNvSpPr/>
          <p:nvPr/>
        </p:nvSpPr>
        <p:spPr>
          <a:xfrm>
            <a:off x="502919" y="1508760"/>
            <a:ext cx="11155682" cy="4800601"/>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p:spPr>
        <p:txBody>
          <a:bodyPr lIns="45719" rIns="45719" anchor="ctr"/>
          <a:lstStyle/>
          <a:p>
            <a:pPr algn="ctr">
              <a:defRPr>
                <a:solidFill>
                  <a:srgbClr val="FFFFFF"/>
                </a:solidFill>
              </a:defRPr>
            </a:pPr>
          </a:p>
        </p:txBody>
      </p:sp>
      <p:sp>
        <p:nvSpPr>
          <p:cNvPr id="215" name="TextBox 10"/>
          <p:cNvSpPr txBox="1"/>
          <p:nvPr/>
        </p:nvSpPr>
        <p:spPr>
          <a:xfrm>
            <a:off x="795528" y="1664207"/>
            <a:ext cx="10561320" cy="2517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700"/>
              </a:spcBef>
              <a:defRPr sz="1200">
                <a:solidFill>
                  <a:srgbClr val="26303A"/>
                </a:solidFill>
                <a:latin typeface="Aptos"/>
                <a:ea typeface="Aptos"/>
                <a:cs typeface="Aptos"/>
                <a:sym typeface="Aptos"/>
              </a:defRPr>
            </a:pPr>
            <a:r>
              <a:t>Atlassian. (n.d.). Waterfall vs. Agile: The differences in project management methodologies. https://www.atlassian.com/agile/project-management/project-management-intro</a:t>
            </a:r>
          </a:p>
          <a:p>
            <a:pPr>
              <a:spcBef>
                <a:spcPts val="700"/>
              </a:spcBef>
              <a:defRPr sz="1100">
                <a:solidFill>
                  <a:srgbClr val="26303A"/>
                </a:solidFill>
                <a:latin typeface="Aptos"/>
                <a:ea typeface="Aptos"/>
                <a:cs typeface="Aptos"/>
                <a:sym typeface="Aptos"/>
              </a:defRPr>
            </a:pPr>
            <a:r>
              <a:t>Digital.ai. (2024). The 17th State of Agile report. https://digital.ai/press-releases/17th-state-of-agile-report-71-use-agile-in-their-sdlc-small-organizations-report-strong-business-benefits-medium-and-larger-sized-companies-continue-to-experience-barriers-in-successfully-scaling-a/</a:t>
            </a:r>
          </a:p>
          <a:p>
            <a:pPr>
              <a:spcBef>
                <a:spcPts val="700"/>
              </a:spcBef>
              <a:defRPr sz="1200">
                <a:solidFill>
                  <a:srgbClr val="26303A"/>
                </a:solidFill>
                <a:latin typeface="Aptos"/>
                <a:ea typeface="Aptos"/>
                <a:cs typeface="Aptos"/>
                <a:sym typeface="Aptos"/>
              </a:defRPr>
            </a:pPr>
            <a:r>
              <a:t>Jackson, G., Holdsworth, J., &amp; Kosinski, M. (2025). What is the software development lifecycle (SDLC)? IBM. https://www.ibm.com/think/topics/sdlc</a:t>
            </a:r>
          </a:p>
          <a:p>
            <a:pPr>
              <a:spcBef>
                <a:spcPts val="700"/>
              </a:spcBef>
              <a:defRPr sz="1100">
                <a:solidFill>
                  <a:srgbClr val="26303A"/>
                </a:solidFill>
                <a:latin typeface="Aptos"/>
                <a:ea typeface="Aptos"/>
                <a:cs typeface="Aptos"/>
                <a:sym typeface="Aptos"/>
              </a:defRPr>
            </a:pPr>
            <a:r>
              <a:t>Microsoft. (2022, November 28). What is Agile development? Microsoft Learn. https://learn.microsoft.com/en-us/devops/plan/what-is-agile-development</a:t>
            </a:r>
          </a:p>
          <a:p>
            <a:pPr>
              <a:spcBef>
                <a:spcPts val="700"/>
              </a:spcBef>
              <a:defRPr sz="1100">
                <a:solidFill>
                  <a:srgbClr val="26303A"/>
                </a:solidFill>
                <a:latin typeface="Aptos"/>
                <a:ea typeface="Aptos"/>
                <a:cs typeface="Aptos"/>
                <a:sym typeface="Aptos"/>
              </a:defRPr>
            </a:pPr>
            <a:r>
              <a:t>Tozzi, C. (2024, May 22). Waterfall vs. Agile methodology: Differences and examples. TechTarget. https://www.techtarget.com/it-infrastructure/tip/Waterfall-vs-Agile-methodology-Differences-and-examples</a:t>
            </a:r>
          </a:p>
          <a:p>
            <a:pPr>
              <a:spcBef>
                <a:spcPts val="700"/>
              </a:spcBef>
              <a:defRPr sz="1200">
                <a:solidFill>
                  <a:srgbClr val="26303A"/>
                </a:solidFill>
                <a:latin typeface="Aptos"/>
                <a:ea typeface="Aptos"/>
                <a:cs typeface="Aptos"/>
                <a:sym typeface="Aptos"/>
              </a:defRPr>
            </a:pPr>
            <a:r>
              <a:t>Schwaber, K., &amp; Sutherland, J. (2020). The Scrum guide: The definitive guide to Scrum: The rules of the game. Scrum Guides. https://scrumguides.org/scrum-guide.html</a:t>
            </a:r>
          </a:p>
          <a:p>
            <a:pPr>
              <a:spcBef>
                <a:spcPts val="700"/>
              </a:spcBef>
              <a:defRPr sz="1200">
                <a:solidFill>
                  <a:srgbClr val="26303A"/>
                </a:solidFill>
                <a:latin typeface="Aptos"/>
                <a:ea typeface="Aptos"/>
                <a:cs typeface="Aptos"/>
                <a:sym typeface="Aptos"/>
              </a:defRPr>
            </a:pPr>
            <a:r>
              <a:t>Beck, K., et al. (2001). Manifesto for Agile software development. https://agilemanifesto.org/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